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9144000" cy="5143500" type="screen16x9"/>
  <p:notesSz cx="6858000" cy="9144000"/>
  <p:embeddedFontLst>
    <p:embeddedFont>
      <p:font typeface="Economica" panose="020B0604020202020204" charset="0"/>
      <p:regular r:id="rId14"/>
      <p:bold r:id="rId15"/>
      <p:italic r:id="rId16"/>
      <p:boldItalic r:id="rId17"/>
    </p:embeddedFont>
    <p:embeddedFont>
      <p:font typeface="Open Sans" panose="020B060402020202020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A6A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66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1013748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0ddf966691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0ddf966691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e16b2adad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e16b2adad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e16b2adad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e16b2adad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e16b2adad1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e16b2adad1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e16b2adad1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e16b2adad1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e16b2adad1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e16b2adad1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e16b2adad1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e16b2adad1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e16b2adad1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e16b2adad1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ru-RU" smtClean="0"/>
              <a:t>Образец подзаголовка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7" name="Google Shape;17;p3"/>
          <p:cNvSpPr/>
          <p:nvPr/>
        </p:nvSpPr>
        <p:spPr>
          <a:xfrm rot="10800000" flipH="1">
            <a:off x="466425" y="35583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ru-RU" smtClean="0"/>
              <a:t>Образец подзаголовка</a:t>
            </a: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Пустой слайд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2805450" y="821300"/>
            <a:ext cx="3281100" cy="157982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l"/>
            <a:r>
              <a:rPr lang="ru-RU" sz="2400" dirty="0" err="1"/>
              <a:t>Розробка</a:t>
            </a:r>
            <a:r>
              <a:rPr lang="ru-RU" sz="2400" dirty="0"/>
              <a:t> </a:t>
            </a:r>
            <a:r>
              <a:rPr lang="ru-RU" sz="2400" dirty="0" err="1"/>
              <a:t>вебплатформи</a:t>
            </a:r>
            <a:r>
              <a:rPr lang="ru-RU" sz="2400" dirty="0"/>
              <a:t> </a:t>
            </a:r>
            <a:r>
              <a:rPr lang="en-US" sz="2400" dirty="0" err="1"/>
              <a:t>ArtSpace</a:t>
            </a:r>
            <a:r>
              <a:rPr lang="en-US" sz="2400" dirty="0"/>
              <a:t> </a:t>
            </a:r>
            <a:r>
              <a:rPr lang="ru-RU" sz="2400" dirty="0"/>
              <a:t>для </a:t>
            </a:r>
            <a:r>
              <a:rPr lang="ru-RU" sz="2400" dirty="0" err="1"/>
              <a:t>публікації</a:t>
            </a:r>
            <a:r>
              <a:rPr lang="ru-RU" sz="2400" dirty="0"/>
              <a:t> цифрового </a:t>
            </a:r>
            <a:r>
              <a:rPr lang="ru-RU" sz="2400" dirty="0" err="1"/>
              <a:t>мистецтва</a:t>
            </a:r>
            <a:endParaRPr sz="2400" dirty="0"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1671956" y="3610800"/>
            <a:ext cx="5087400" cy="153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dirty="0" smtClean="0"/>
              <a:t>Кметик Єлизавета Романівна, ПЗПІ-23-7</a:t>
            </a:r>
            <a:endParaRPr dirty="0"/>
          </a:p>
          <a:p>
            <a:pPr marL="0" lvl="0" indent="0" algn="l"/>
            <a:r>
              <a:rPr lang="uk" dirty="0" smtClean="0"/>
              <a:t>Керівник</a:t>
            </a:r>
            <a:r>
              <a:rPr lang="uk" dirty="0"/>
              <a:t>: </a:t>
            </a:r>
            <a:r>
              <a:rPr lang="uk" dirty="0" smtClean="0"/>
              <a:t> </a:t>
            </a:r>
            <a:r>
              <a:rPr lang="ru-RU" dirty="0" smtClean="0"/>
              <a:t>к.т.н</a:t>
            </a:r>
            <a:r>
              <a:rPr lang="ru-RU" dirty="0"/>
              <a:t>., доц. </a:t>
            </a:r>
            <a:r>
              <a:rPr lang="ru-RU" dirty="0" err="1"/>
              <a:t>кафедри</a:t>
            </a:r>
            <a:r>
              <a:rPr lang="ru-RU" dirty="0"/>
              <a:t> ПІ, </a:t>
            </a:r>
            <a:r>
              <a:rPr lang="ru-RU" dirty="0" err="1"/>
              <a:t>Побіженко</a:t>
            </a:r>
            <a:r>
              <a:rPr lang="ru-RU" dirty="0"/>
              <a:t> </a:t>
            </a:r>
            <a:r>
              <a:rPr lang="ru-RU" dirty="0" err="1"/>
              <a:t>Ірина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dirty="0" smtClean="0"/>
              <a:t>2026</a:t>
            </a:r>
            <a:endParaRPr dirty="0"/>
          </a:p>
        </p:txBody>
      </p:sp>
      <p:pic>
        <p:nvPicPr>
          <p:cNvPr id="64" name="Google Shape;6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725" y="170825"/>
            <a:ext cx="2133975" cy="38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68504" y="170825"/>
            <a:ext cx="1924921" cy="43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 smtClean="0"/>
              <a:t>Мета роботи</a:t>
            </a:r>
            <a:endParaRPr sz="3200" dirty="0"/>
          </a:p>
        </p:txBody>
      </p:sp>
      <p:sp>
        <p:nvSpPr>
          <p:cNvPr id="72" name="Google Shape;72;p14"/>
          <p:cNvSpPr txBox="1">
            <a:spLocks noGrp="1"/>
          </p:cNvSpPr>
          <p:nvPr>
            <p:ph type="body" idx="1"/>
          </p:nvPr>
        </p:nvSpPr>
        <p:spPr>
          <a:xfrm>
            <a:off x="311700" y="1005500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 algn="just">
              <a:buNone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Мета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роботи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розробка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вебплатформи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ArtSpace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публікації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цифрового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мистецтва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взаємодії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користувачів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і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проведення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тематичних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челенджів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14300" indent="0" algn="just">
              <a:buNone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досягнення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мети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було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виконано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такі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завдання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проаналізовано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предметну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галузь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існуючі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аналоги;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визначено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функціональні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й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нефункціональні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вимоги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спроєктовано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архітектуру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програмного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забезпечення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розроблено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клієнтську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серверну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частини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створено структуру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бази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даних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реалізовано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публікації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профілі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чати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збереження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челенджі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модерацію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виконано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тестування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впровадження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системи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93E68CA-DEF7-D32D-BFB6-7B402335F4C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2</a:t>
            </a:fld>
            <a:endParaRPr lang="uk-UA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311700" y="-124863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 smtClean="0"/>
              <a:t>Аналіз проблеми (аналіз існуючих рішень) </a:t>
            </a:r>
            <a:endParaRPr sz="3200" dirty="0"/>
          </a:p>
        </p:txBody>
      </p:sp>
      <p:sp>
        <p:nvSpPr>
          <p:cNvPr id="79" name="Google Shape;79;p15"/>
          <p:cNvSpPr txBox="1">
            <a:spLocks noGrp="1"/>
          </p:cNvSpPr>
          <p:nvPr>
            <p:ph type="body" idx="1"/>
          </p:nvPr>
        </p:nvSpPr>
        <p:spPr>
          <a:xfrm>
            <a:off x="311700" y="922618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 algn="just">
              <a:buNone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сфері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цифрового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мистецтва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існує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потреба у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зручних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онлайн-платформах для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публікації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робіт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пошуку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аудиторії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взаємодії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між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авторами.</a:t>
            </a:r>
          </a:p>
          <a:p>
            <a:pPr marL="114300" indent="0" algn="just">
              <a:buNone/>
            </a:pP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Під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час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аналізу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було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розглянуто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такі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аналоги: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ArtStation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зручна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платформа для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професійного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портфоліо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але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має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високу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конкуренцію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початківців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DeviantArt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має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велику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спільноту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але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інтерфейс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може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бути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перевантаженим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Behance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добре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підходить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презентації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завершених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проєктів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але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менш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орієнтований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щоденну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соціальну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взаємодію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14300" indent="0" algn="just">
              <a:buNone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ArtSpace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спрямований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поєднання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публікації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робіт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соціальної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взаємодії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творчих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челенджів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локалізації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модерації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algn="l" rtl="0">
              <a:spcBef>
                <a:spcPts val="1500"/>
              </a:spcBef>
              <a:spcAft>
                <a:spcPts val="1200"/>
              </a:spcAft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62475D-5E0B-A5AC-3922-2970FC56A64D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3</a:t>
            </a:fld>
            <a:endParaRPr lang="uk-UA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-186276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Постановка </a:t>
            </a:r>
            <a:r>
              <a:rPr lang="uk" sz="3200" dirty="0" smtClean="0"/>
              <a:t>задачі та опис системи</a:t>
            </a:r>
            <a:endParaRPr sz="3200" dirty="0"/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400494" y="825262"/>
            <a:ext cx="8184341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114300" indent="0" algn="just">
              <a:buNone/>
            </a:pP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Задачею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проєкту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є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створення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вебплатформи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ArtSpace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яка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дозволяє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користувачам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публікувати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цифрові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ілюстрації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взаємодіяти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іншими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авторами.</a:t>
            </a:r>
          </a:p>
          <a:p>
            <a:pPr marL="114300" indent="0" algn="just">
              <a:buNone/>
            </a:pP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повинна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забезпечувати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реєстрацію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авторизацію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користувачів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створення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й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редагування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профілю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публікацію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цифрових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робіт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перегляд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стрічки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публікацій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пошук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і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фільтрацію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категоріями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тегами;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коментарі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вподобання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збереження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робіт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приватні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повідомлення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участь у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тематичних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челенджах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подання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скарг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адміністративну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модерацію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контенту.</a:t>
            </a:r>
          </a:p>
          <a:p>
            <a:pPr marL="0" lvl="0" indent="0" algn="l" rtl="0">
              <a:spcBef>
                <a:spcPts val="1500"/>
              </a:spcBef>
              <a:spcAft>
                <a:spcPts val="1200"/>
              </a:spcAft>
              <a:buNone/>
            </a:pPr>
            <a:endParaRPr dirty="0">
              <a:latin typeface="Economica" panose="020B0604020202020204" charset="0"/>
            </a:endParaRPr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23D9805-068E-FE7E-BC9A-0C410D68B73B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4</a:t>
            </a:fld>
            <a:endParaRPr lang="uk-UA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xfrm>
            <a:off x="311700" y="-148309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 smtClean="0"/>
              <a:t>Вибір технологій розробки </a:t>
            </a:r>
            <a:endParaRPr sz="3200" dirty="0"/>
          </a:p>
        </p:txBody>
      </p:sp>
      <p:sp>
        <p:nvSpPr>
          <p:cNvPr id="93" name="Google Shape;93;p17"/>
          <p:cNvSpPr txBox="1">
            <a:spLocks noGrp="1"/>
          </p:cNvSpPr>
          <p:nvPr>
            <p:ph type="body" idx="1"/>
          </p:nvPr>
        </p:nvSpPr>
        <p:spPr>
          <a:xfrm>
            <a:off x="268925" y="682991"/>
            <a:ext cx="8520600" cy="7313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 algn="just">
              <a:buNone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реалізації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ArtSpace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було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обрано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технології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які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дозволяють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створити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клієнт-серверний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вебзастосунок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43E912-C721-1128-5F72-D9BB9BCF5CCA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5</a:t>
            </a:fld>
            <a:endParaRPr lang="uk-UA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476937" y="1736729"/>
            <a:ext cx="2430724" cy="1815882"/>
          </a:xfrm>
          <a:prstGeom prst="rect">
            <a:avLst/>
          </a:prstGeom>
          <a:ln w="19050">
            <a:solidFill>
              <a:srgbClr val="6A6A6A"/>
            </a:solidFill>
          </a:ln>
        </p:spPr>
        <p:txBody>
          <a:bodyPr wrap="square">
            <a:spAutoFit/>
          </a:bodyPr>
          <a:lstStyle/>
          <a:p>
            <a:pPr marL="114300" indent="0">
              <a:buNone/>
            </a:pP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Клієнтська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частина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—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сторінок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 —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оформлення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інтерфейсу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 —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інтерактивність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запити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локалізація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3333284" y="1736729"/>
            <a:ext cx="2509666" cy="1600438"/>
          </a:xfrm>
          <a:prstGeom prst="rect">
            <a:avLst/>
          </a:prstGeom>
          <a:ln w="19050">
            <a:solidFill>
              <a:srgbClr val="6A6A6A"/>
            </a:solidFill>
          </a:ln>
        </p:spPr>
        <p:txBody>
          <a:bodyPr wrap="square">
            <a:spAutoFit/>
          </a:bodyPr>
          <a:lstStyle/>
          <a:p>
            <a:pPr marL="114300"/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Впровадження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000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Render —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розгортання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backend;</a:t>
            </a:r>
          </a:p>
          <a:p>
            <a:pPr marL="4000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Netlify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розгортання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frontend;</a:t>
            </a:r>
          </a:p>
          <a:p>
            <a:pPr marL="4000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 Atlas —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хмарна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база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даних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6268574" y="1736729"/>
            <a:ext cx="2509666" cy="1815882"/>
          </a:xfrm>
          <a:prstGeom prst="rect">
            <a:avLst/>
          </a:prstGeom>
          <a:ln w="19050">
            <a:solidFill>
              <a:srgbClr val="6A6A6A"/>
            </a:solidFill>
          </a:ln>
        </p:spPr>
        <p:txBody>
          <a:bodyPr wrap="square">
            <a:spAutoFit/>
          </a:bodyPr>
          <a:lstStyle/>
          <a:p>
            <a:pPr marL="114300"/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Серверна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частина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000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створення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 API;</a:t>
            </a:r>
          </a:p>
          <a:p>
            <a:pPr marL="4000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 —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формат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обміну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даними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4000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 —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зберігання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даних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документній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базі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268925" y="349659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Архітектура </a:t>
            </a:r>
            <a:r>
              <a:rPr lang="uk" sz="3200" dirty="0" smtClean="0"/>
              <a:t>створенного програмного забезпечення</a:t>
            </a:r>
            <a:endParaRPr sz="3200" dirty="0"/>
          </a:p>
        </p:txBody>
      </p:sp>
      <p:sp>
        <p:nvSpPr>
          <p:cNvPr id="100" name="Google Shape;100;p18"/>
          <p:cNvSpPr txBox="1">
            <a:spLocks noGrp="1"/>
          </p:cNvSpPr>
          <p:nvPr>
            <p:ph type="body" idx="1"/>
          </p:nvPr>
        </p:nvSpPr>
        <p:spPr>
          <a:xfrm>
            <a:off x="338014" y="1330954"/>
            <a:ext cx="8520600" cy="312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 algn="just">
              <a:buNone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ArtSpace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побудовано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клієнт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-серверною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архітектурою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14300" indent="0" algn="just">
              <a:buNone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складається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трьох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основних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рівнів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рівень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представлення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клієнтський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інтерфейс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створений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допомогою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HTML, CSS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і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рівень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прикладної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логіки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серверна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частина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яка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обробляє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запити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рівень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даних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MongoDB,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зберігаються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користувачі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публікації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коментарі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повідомлення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скарги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челенджі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14300" indent="0" algn="just">
              <a:buNone/>
            </a:pP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Обмін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даними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між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клієнтом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і сервером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здійснюється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через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 API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форматі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JSON.</a:t>
            </a:r>
          </a:p>
          <a:p>
            <a:pPr marL="0" lvl="0" indent="0" algn="l" rtl="0">
              <a:spcBef>
                <a:spcPts val="1500"/>
              </a:spcBef>
              <a:spcAft>
                <a:spcPts val="1200"/>
              </a:spcAft>
              <a:buNone/>
            </a:pPr>
            <a:endParaRPr dirty="0">
              <a:latin typeface="Economica" panose="020B0604020202020204" charset="0"/>
            </a:endParaRPr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A55726-B906-08A2-C43F-1B00FCF5F354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6</a:t>
            </a:fld>
            <a:endParaRPr lang="uk-UA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>
            <a:spLocks noGrp="1"/>
          </p:cNvSpPr>
          <p:nvPr>
            <p:ph type="title"/>
          </p:nvPr>
        </p:nvSpPr>
        <p:spPr>
          <a:xfrm>
            <a:off x="311700" y="31240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Опис програмного забезпечення, що було використано у дослідженні</a:t>
            </a:r>
            <a:endParaRPr sz="3200" dirty="0"/>
          </a:p>
        </p:txBody>
      </p:sp>
      <p:sp>
        <p:nvSpPr>
          <p:cNvPr id="107" name="Google Shape;107;p19"/>
          <p:cNvSpPr txBox="1">
            <a:spLocks noGrp="1"/>
          </p:cNvSpPr>
          <p:nvPr>
            <p:ph type="body" idx="1"/>
          </p:nvPr>
        </p:nvSpPr>
        <p:spPr>
          <a:xfrm>
            <a:off x="399666" y="1183923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 algn="just">
              <a:buNone/>
            </a:pP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Під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час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розробки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впровадження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вебплатформи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було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використано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таке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програмне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забезпечення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Code —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редагування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коду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клієнтської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серверної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частини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—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виконання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серверної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частини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створення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 Compass —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перегляд і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перевірка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локальних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даних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 Atlas —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хмарне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зберігання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даних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Render —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розгортання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серверної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частини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Netlify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публікація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клієнтської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частини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браузер —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перевірка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інтерфейсу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користувацьких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сценаріїв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algn="l" rtl="0">
              <a:spcBef>
                <a:spcPts val="1500"/>
              </a:spcBef>
              <a:spcAft>
                <a:spcPts val="1200"/>
              </a:spcAft>
              <a:buNone/>
            </a:pP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26AFC1-F793-030A-440F-FC50C3AEF71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7</a:t>
            </a:fld>
            <a:endParaRPr lang="uk-UA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title"/>
          </p:nvPr>
        </p:nvSpPr>
        <p:spPr>
          <a:xfrm>
            <a:off x="311700" y="-9203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 smtClean="0"/>
              <a:t>Дизайн системи</a:t>
            </a:r>
            <a:endParaRPr sz="3200" dirty="0"/>
          </a:p>
        </p:txBody>
      </p:sp>
      <p:sp>
        <p:nvSpPr>
          <p:cNvPr id="114" name="Google Shape;114;p20"/>
          <p:cNvSpPr txBox="1">
            <a:spLocks noGrp="1"/>
          </p:cNvSpPr>
          <p:nvPr>
            <p:ph type="body" idx="1"/>
          </p:nvPr>
        </p:nvSpPr>
        <p:spPr>
          <a:xfrm>
            <a:off x="191856" y="795988"/>
            <a:ext cx="4840634" cy="34668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Основні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принципи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дизайну: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Користувацький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досвід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UX):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зручна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навігація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швидкий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доступ до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профілю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публікацій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чатів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і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челенджів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Візуальний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стиль (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UI):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темна тема, акцент на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цифрових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роботах,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карткове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подання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публікацій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Адаптивність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коректне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відображення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сторінок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браузері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різних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розмірах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екрана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Зручність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взаємодії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модальні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вікна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випадаючі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меню,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швидке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відкриття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зображень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і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перемикання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мови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8624834-013E-7249-F488-C816A0DA935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8</a:t>
            </a:fld>
            <a:endParaRPr lang="uk-UA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5400222" y="798467"/>
            <a:ext cx="3378018" cy="206210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114300" indent="0">
              <a:buNone/>
            </a:pP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Ключові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елементи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інтерфейсу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Головна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стрічка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публікацій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Профіль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користувача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Сторінка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збережених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робіт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Чати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коментарі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Сторінка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челенджів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Адміністративна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панель для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модерації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 smtClean="0"/>
              <a:t>Приклад реалізації</a:t>
            </a:r>
            <a:endParaRPr sz="3200" dirty="0"/>
          </a:p>
        </p:txBody>
      </p:sp>
      <p:sp>
        <p:nvSpPr>
          <p:cNvPr id="121" name="Google Shape;121;p21"/>
          <p:cNvSpPr txBox="1">
            <a:spLocks noGrp="1"/>
          </p:cNvSpPr>
          <p:nvPr>
            <p:ph type="body" idx="1"/>
          </p:nvPr>
        </p:nvSpPr>
        <p:spPr>
          <a:xfrm>
            <a:off x="357749" y="841901"/>
            <a:ext cx="3047367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>
              <a:buNone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Фрагмент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демонструє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створення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нової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публікації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через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 API.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перевіряє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обов’язкові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поля,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формує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документ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публікації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зберігає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його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повертає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результат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клієнтській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частині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800C66-AABB-EFA8-12F4-0C56A1243712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9</a:t>
            </a:fld>
            <a:endParaRPr lang="uk-UA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2082" y="710549"/>
            <a:ext cx="5056288" cy="38635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268925" y="-14362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 smtClean="0"/>
              <a:t>Інтерфейс користувача </a:t>
            </a:r>
            <a:endParaRPr sz="3200" dirty="0"/>
          </a:p>
        </p:txBody>
      </p:sp>
      <p:sp>
        <p:nvSpPr>
          <p:cNvPr id="128" name="Google Shape;128;p22"/>
          <p:cNvSpPr txBox="1">
            <a:spLocks noGrp="1"/>
          </p:cNvSpPr>
          <p:nvPr>
            <p:ph type="body" idx="1"/>
          </p:nvPr>
        </p:nvSpPr>
        <p:spPr>
          <a:xfrm>
            <a:off x="436689" y="970014"/>
            <a:ext cx="3516939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>
              <a:spcBef>
                <a:spcPts val="1500"/>
              </a:spcBef>
              <a:buNone/>
            </a:pP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Інтерфейс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ArtSpace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виконано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 темному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стилі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орієнтовано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зручну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роботу з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графічним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контентом. На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слайді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представлені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головна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сторінка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зі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стрічкою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публікацій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і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сторінка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профілю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користувача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Інтерфейс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забезпечує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швидкий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доступ до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публікацій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пошуку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челенджів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персональних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налаштувань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8D948D-369C-B702-98D8-76BFF8794D1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10</a:t>
            </a:fld>
            <a:endParaRPr lang="uk-UA" dirty="0"/>
          </a:p>
        </p:txBody>
      </p:sp>
      <p:pic>
        <p:nvPicPr>
          <p:cNvPr id="6" name="Рисунок 5"/>
          <p:cNvPicPr/>
          <p:nvPr/>
        </p:nvPicPr>
        <p:blipFill>
          <a:blip r:embed="rId4"/>
          <a:stretch>
            <a:fillRect/>
          </a:stretch>
        </p:blipFill>
        <p:spPr>
          <a:xfrm>
            <a:off x="4230454" y="613177"/>
            <a:ext cx="4484417" cy="2104683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0453" y="2800235"/>
            <a:ext cx="4484417" cy="17827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>
            <a:spLocks noGrp="1"/>
          </p:cNvSpPr>
          <p:nvPr>
            <p:ph type="title"/>
          </p:nvPr>
        </p:nvSpPr>
        <p:spPr>
          <a:xfrm>
            <a:off x="311700" y="-35287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Підсумки </a:t>
            </a:r>
            <a:endParaRPr sz="3200" dirty="0"/>
          </a:p>
        </p:txBody>
      </p:sp>
      <p:sp>
        <p:nvSpPr>
          <p:cNvPr id="142" name="Google Shape;142;p24"/>
          <p:cNvSpPr txBox="1">
            <a:spLocks noGrp="1"/>
          </p:cNvSpPr>
          <p:nvPr>
            <p:ph type="body" idx="1"/>
          </p:nvPr>
        </p:nvSpPr>
        <p:spPr>
          <a:xfrm>
            <a:off x="311700" y="796013"/>
            <a:ext cx="8520600" cy="35062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539750" algn="just">
              <a:buNone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результаті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виконання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комплексного курсового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проєкту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було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розроблено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вебплатформу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ArtSpace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публікації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цифрового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мистецтва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Під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час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роботи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було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проаналізовано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предметну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галузь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визначено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основні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проблеми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існуючих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сервісів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сформульовано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вимоги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системи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спроєктовано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її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архітектуру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Реалізована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платформа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поєднує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функції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онлайн-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галереї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профілю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користувача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соціальної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взаємодії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приватного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спілкування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творчих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челенджів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і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адміністративної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модерації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539750" algn="just">
              <a:buNone/>
            </a:pP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Клієнтська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частина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системи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створена за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допомогою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HTML, CSS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серверна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частина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реалізована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 для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зберігання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даних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використано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MongoDB.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Також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було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виконано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тестування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основних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функцій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системи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розгортання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проєкту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хмарному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середовищі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використанням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Netlify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Render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і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 Atlas.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Отриманий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результат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підтверджує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працездатність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розробленого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рішення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можливість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його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подальшого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розвитку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як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повноцінної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платформи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цифрових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художників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B5B94D8-63F6-7EAC-6461-2DB4B135596F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11</a:t>
            </a:fld>
            <a:endParaRPr lang="uk-UA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Шаблон презентації кваліфікаційної роботи магістрів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презентації кваліфікаційної роботи магістрів" id="{72E840FA-3155-46C9-BB37-701E4C9B1C67}" vid="{DC416FE5-D050-4603-AD75-8F49A0CCCB6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Шаблон_презентації_до_ККП_бакалавра_2025</Template>
  <TotalTime>87</TotalTime>
  <Words>807</Words>
  <Application>Microsoft Office PowerPoint</Application>
  <PresentationFormat>Экран (16:9)</PresentationFormat>
  <Paragraphs>98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Times New Roman</vt:lpstr>
      <vt:lpstr>Economica</vt:lpstr>
      <vt:lpstr>Open Sans</vt:lpstr>
      <vt:lpstr>Arial</vt:lpstr>
      <vt:lpstr>Шаблон презентації кваліфікаційної роботи магістрів</vt:lpstr>
      <vt:lpstr>Розробка вебплатформи ArtSpace для публікації цифрового мистецтва</vt:lpstr>
      <vt:lpstr>Мета роботи</vt:lpstr>
      <vt:lpstr>Аналіз проблеми (аналіз існуючих рішень) </vt:lpstr>
      <vt:lpstr>Постановка задачі та опис системи</vt:lpstr>
      <vt:lpstr>Вибір технологій розробки </vt:lpstr>
      <vt:lpstr>Архітектура створенного програмного забезпечення</vt:lpstr>
      <vt:lpstr>Опис програмного забезпечення, що було використано у дослідженні</vt:lpstr>
      <vt:lpstr>Дизайн системи</vt:lpstr>
      <vt:lpstr>Приклад реалізації</vt:lpstr>
      <vt:lpstr>Інтерфейс користувача </vt:lpstr>
      <vt:lpstr>Підсумки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Розробка вебплатформи ArtSpace для публікації цифрового мистецтва</dc:title>
  <dc:creator>Роман Кметик</dc:creator>
  <cp:lastModifiedBy>Роман Кметик</cp:lastModifiedBy>
  <cp:revision>7</cp:revision>
  <dcterms:created xsi:type="dcterms:W3CDTF">2026-05-30T13:12:13Z</dcterms:created>
  <dcterms:modified xsi:type="dcterms:W3CDTF">2026-05-31T13:17:23Z</dcterms:modified>
</cp:coreProperties>
</file>